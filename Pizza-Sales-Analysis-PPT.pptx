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7" r:id="rId8"/>
    <p:sldId id="262" r:id="rId9"/>
    <p:sldId id="263" r:id="rId10"/>
    <p:sldId id="264" r:id="rId11"/>
  </p:sldIdLst>
  <p:sldSz cx="9144000" cy="5143500" type="screen16x9"/>
  <p:notesSz cx="5143500" cy="9144000"/>
  <p:embeddedFontLst>
    <p:embeddedFont>
      <p:font typeface="Gelasio" pitchFamily="2" charset="0"/>
      <p:regular r:id="rId13"/>
      <p:bold r:id="rId14"/>
      <p:italic r:id="rId15"/>
      <p:boldItalic r:id="rId16"/>
    </p:embeddedFont>
    <p:embeddedFont>
      <p:font typeface="Gelasio Bold" pitchFamily="2" charset="0"/>
      <p:regular r:id="rId17"/>
      <p:bold r:id="rId18"/>
    </p:embeddedFont>
    <p:embeddedFont>
      <p:font typeface="Gelasio SemiBold" pitchFamily="2" charset="0"/>
      <p:regular r:id="rId19"/>
      <p:bold r:id="rId20"/>
      <p:boldItalic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74D"/>
    <a:srgbClr val="F9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9" autoAdjust="0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91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530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6E2E3-EDCC-725B-12FF-B263B1777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F8043-9124-176F-1687-8DFF4D6A6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36C94-96DA-D74C-9504-A1C52EB83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00F67-1AF7-1A4C-A528-96BD59BF77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45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94520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Pizza Sales Analysis 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496119" y="281904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Interactive Sales Analysis using </a:t>
            </a:r>
            <a:r>
              <a:rPr lang="en-US" sz="12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SQL </a:t>
            </a: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&amp; </a:t>
            </a:r>
            <a:r>
              <a:rPr lang="en-US" sz="12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Power BI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96119" y="3251597"/>
            <a:ext cx="4722763" cy="19050"/>
          </a:xfrm>
          <a:prstGeom prst="roundRect">
            <a:avLst>
              <a:gd name="adj" fmla="val 60000"/>
            </a:avLst>
          </a:prstGeom>
          <a:solidFill>
            <a:srgbClr val="746558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3465537"/>
            <a:ext cx="5179963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Jill Prajapati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1092"/>
            <a:ext cx="4722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Project Overview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96119" y="977131"/>
            <a:ext cx="472276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project transforms one year of pizza sales data into an interactive, insight-driven dashboard.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6119" y="1499964"/>
            <a:ext cx="4722763" cy="723305"/>
          </a:xfrm>
          <a:prstGeom prst="roundRect">
            <a:avLst>
              <a:gd name="adj" fmla="val 2664"/>
            </a:avLst>
          </a:prstGeom>
          <a:solidFill>
            <a:srgbClr val="EEE8DD"/>
          </a:solidFill>
          <a:ln/>
        </p:spPr>
      </p:sp>
      <p:sp>
        <p:nvSpPr>
          <p:cNvPr id="6" name="Text 3"/>
          <p:cNvSpPr/>
          <p:nvPr/>
        </p:nvSpPr>
        <p:spPr>
          <a:xfrm>
            <a:off x="624557" y="1628403"/>
            <a:ext cx="446588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Interactive Dashboard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4557" y="1898898"/>
            <a:ext cx="446588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Built a Power BI dashboard for real-time business decision-making.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6119" y="2339653"/>
            <a:ext cx="4722763" cy="723305"/>
          </a:xfrm>
          <a:prstGeom prst="roundRect">
            <a:avLst>
              <a:gd name="adj" fmla="val 2664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624557" y="2468091"/>
            <a:ext cx="446588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Analyzed Revenue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4557" y="2738586"/>
            <a:ext cx="446588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Examine total sales and revenue trends across the full year.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96119" y="3179341"/>
            <a:ext cx="4722763" cy="723305"/>
          </a:xfrm>
          <a:prstGeom prst="roundRect">
            <a:avLst>
              <a:gd name="adj" fmla="val 2664"/>
            </a:avLst>
          </a:prstGeom>
          <a:solidFill>
            <a:srgbClr val="EEE8DD"/>
          </a:solidFill>
          <a:ln/>
        </p:spPr>
      </p:sp>
      <p:sp>
        <p:nvSpPr>
          <p:cNvPr id="12" name="Text 9"/>
          <p:cNvSpPr/>
          <p:nvPr/>
        </p:nvSpPr>
        <p:spPr>
          <a:xfrm>
            <a:off x="624557" y="3307779"/>
            <a:ext cx="446588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Pizza Performance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24557" y="3578275"/>
            <a:ext cx="446588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Evaluated which pizzas drive the most revenue and orders.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96119" y="4019029"/>
            <a:ext cx="4722763" cy="723305"/>
          </a:xfrm>
          <a:prstGeom prst="roundRect">
            <a:avLst>
              <a:gd name="adj" fmla="val 2664"/>
            </a:avLst>
          </a:prstGeom>
          <a:solidFill>
            <a:srgbClr val="EEE8DD"/>
          </a:solidFill>
          <a:ln/>
        </p:spPr>
      </p:sp>
      <p:sp>
        <p:nvSpPr>
          <p:cNvPr id="15" name="Text 12"/>
          <p:cNvSpPr/>
          <p:nvPr/>
        </p:nvSpPr>
        <p:spPr>
          <a:xfrm>
            <a:off x="624557" y="4147468"/>
            <a:ext cx="446588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Customer Behavior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24557" y="4417963"/>
            <a:ext cx="446588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Understand ordering patterns by day, time, and pizza type.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155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Dataset &amp; Preparation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1805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analysis brings together </a:t>
            </a: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4 structured CSV files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cleaned in Excel and integrated in SQL Server to create a unified model for analysis.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31157"/>
            <a:ext cx="1931566" cy="10817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391966"/>
            <a:ext cx="15337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Orders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33127" y="2698477"/>
            <a:ext cx="153374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Order ID, Date, Time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9443" y="2231157"/>
            <a:ext cx="1931640" cy="10817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06452" y="2391966"/>
            <a:ext cx="15338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Order Details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806452" y="2698477"/>
            <a:ext cx="15338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Pizza ID, Quantity, Order ID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2231157"/>
            <a:ext cx="1931640" cy="108175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79851" y="2391966"/>
            <a:ext cx="15338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Pizzas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879851" y="2698477"/>
            <a:ext cx="15338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Pizza Type ID, Size, Price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6241" y="2231157"/>
            <a:ext cx="1931640" cy="108175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53250" y="2391966"/>
            <a:ext cx="15338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Pizza Types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953250" y="2698477"/>
            <a:ext cx="15338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Name, Category, Ingredients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96119" y="3472383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Loaded, cleaned 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and </a:t>
            </a: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transformed 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raw Excel data.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Joined tables &amp; Created a View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in SQL.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Imported 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SQL View into Power BI.</a:t>
            </a:r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638EF0-DBE9-1FBF-8483-0DE904CF9F52}"/>
              </a:ext>
            </a:extLst>
          </p:cNvPr>
          <p:cNvSpPr/>
          <p:nvPr/>
        </p:nvSpPr>
        <p:spPr>
          <a:xfrm>
            <a:off x="8053754" y="4853354"/>
            <a:ext cx="1037492" cy="228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406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Dashboard Features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20" y="1678677"/>
            <a:ext cx="464344" cy="4643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23" y="2259959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KPI Cards</a:t>
            </a:r>
            <a:endParaRPr lang="en-US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0263" y="1672950"/>
            <a:ext cx="464344" cy="4643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040264" y="2259959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Interactive Slicers</a:t>
            </a:r>
            <a:endParaRPr lang="en-US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50" y="1678677"/>
            <a:ext cx="464344" cy="4643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48751" y="2259959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Synced Filters</a:t>
            </a:r>
            <a:endParaRPr lang="en-US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20" y="2828030"/>
            <a:ext cx="464344" cy="46434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96120" y="346773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Dynamic Tooltips</a:t>
            </a:r>
            <a:endParaRPr lang="en-US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40261" y="2828030"/>
            <a:ext cx="464344" cy="46434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040261" y="346773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Multi-Page Navigation</a:t>
            </a:r>
            <a:endParaRPr lang="en-US" dirty="0"/>
          </a:p>
        </p:txBody>
      </p:sp>
      <p:sp>
        <p:nvSpPr>
          <p:cNvPr id="14" name="Text 6"/>
          <p:cNvSpPr/>
          <p:nvPr/>
        </p:nvSpPr>
        <p:spPr>
          <a:xfrm>
            <a:off x="6048748" y="346773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DAX Measures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33A97F-13D3-F81D-985F-197CB53422CD}"/>
              </a:ext>
            </a:extLst>
          </p:cNvPr>
          <p:cNvSpPr/>
          <p:nvPr/>
        </p:nvSpPr>
        <p:spPr>
          <a:xfrm>
            <a:off x="8053754" y="4853354"/>
            <a:ext cx="1037492" cy="228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Graphic 16" descr="Playbook">
            <a:extLst>
              <a:ext uri="{FF2B5EF4-FFF2-40B4-BE49-F238E27FC236}">
                <a16:creationId xmlns:a16="http://schemas.microsoft.com/office/drawing/2014/main" id="{5C602FE3-FCD8-D148-B8D5-8415FB4B8C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83742" y="2763022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48479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Dashboard Pages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04" y="305950"/>
            <a:ext cx="3300413" cy="1856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49804" y="2214556"/>
            <a:ext cx="3300413" cy="132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Overview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49804" y="2360737"/>
            <a:ext cx="3235740" cy="97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Overall business performance and key KPIs.</a:t>
            </a:r>
            <a:endParaRPr lang="en-US" sz="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304" y="305951"/>
            <a:ext cx="3301200" cy="18606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23304" y="2201732"/>
            <a:ext cx="3236527" cy="13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Sales Analysis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23304" y="2351322"/>
            <a:ext cx="323652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and order trends across categories and time.</a:t>
            </a:r>
            <a:endParaRPr lang="en-US" sz="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253" y="2657813"/>
            <a:ext cx="3300413" cy="18602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9803" y="4578221"/>
            <a:ext cx="3235741" cy="150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Pizza Analysis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449804" y="4741323"/>
            <a:ext cx="3300414" cy="1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Best and worst performing pizzas by revenue and quantity.</a:t>
            </a:r>
            <a:endParaRPr lang="en-US" sz="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1752" y="2656376"/>
            <a:ext cx="3300413" cy="18562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23304" y="4565590"/>
            <a:ext cx="3235742" cy="147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Time Analysis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4523303" y="4728693"/>
            <a:ext cx="3301201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Sales patterns by hour, weekday, and month.</a:t>
            </a:r>
            <a:endParaRPr lang="en-US" sz="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1908C6-F58F-44CE-6EC2-9C5920E17147}"/>
              </a:ext>
            </a:extLst>
          </p:cNvPr>
          <p:cNvSpPr/>
          <p:nvPr/>
        </p:nvSpPr>
        <p:spPr>
          <a:xfrm>
            <a:off x="8053754" y="4853354"/>
            <a:ext cx="1037492" cy="228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204EF-9ACC-0805-5B0D-085DEC7DA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37586F-D5D3-3BE1-A76B-FC055199499A}"/>
              </a:ext>
            </a:extLst>
          </p:cNvPr>
          <p:cNvSpPr/>
          <p:nvPr/>
        </p:nvSpPr>
        <p:spPr>
          <a:xfrm>
            <a:off x="496119" y="421481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 Questions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96EBA9-EC89-E252-8B2E-47BB690CFAB1}"/>
              </a:ext>
            </a:extLst>
          </p:cNvPr>
          <p:cNvSpPr/>
          <p:nvPr/>
        </p:nvSpPr>
        <p:spPr>
          <a:xfrm>
            <a:off x="496119" y="1132284"/>
            <a:ext cx="86089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Analysis of one year of sales data revealed clear patterns in revenue, customer behavior, and product performance and these questions:</a:t>
            </a:r>
            <a:endParaRPr lang="en-US" sz="10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4DB7F91-B25E-7898-4DAD-52ABC143BC89}"/>
              </a:ext>
            </a:extLst>
          </p:cNvPr>
          <p:cNvSpPr/>
          <p:nvPr/>
        </p:nvSpPr>
        <p:spPr>
          <a:xfrm>
            <a:off x="949598" y="1524487"/>
            <a:ext cx="769828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Which month recorded the highest revenue?</a:t>
            </a:r>
            <a:endParaRPr lang="en-US" sz="135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A68A3AE2-3566-42C1-66E6-ED25A882B8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432" y="2097731"/>
            <a:ext cx="209327" cy="209327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0E34CB6B-7A80-4D10-DF0F-FBA0A7CCB87E}"/>
              </a:ext>
            </a:extLst>
          </p:cNvPr>
          <p:cNvSpPr/>
          <p:nvPr/>
        </p:nvSpPr>
        <p:spPr>
          <a:xfrm>
            <a:off x="949598" y="2093452"/>
            <a:ext cx="769828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Which day was the busiest day in terms of customer orders?</a:t>
            </a:r>
            <a:endParaRPr lang="en-US" sz="1350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635B95F2-468E-AEC4-C53E-0F680F66E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432" y="2692800"/>
            <a:ext cx="209327" cy="209327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C68EADEA-C0E7-C25D-8F5E-4042A41E5EB4}"/>
              </a:ext>
            </a:extLst>
          </p:cNvPr>
          <p:cNvSpPr/>
          <p:nvPr/>
        </p:nvSpPr>
        <p:spPr>
          <a:xfrm>
            <a:off x="949598" y="2692800"/>
            <a:ext cx="769828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What timings of the day recorded the highest orders?</a:t>
            </a:r>
            <a:endParaRPr lang="en-US" sz="1350" dirty="0"/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CAA022DB-52FF-63CA-61D1-588C6B4876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432" y="3286800"/>
            <a:ext cx="209327" cy="209327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0C58048D-EA72-7DD5-AD41-3F5264D64933}"/>
              </a:ext>
            </a:extLst>
          </p:cNvPr>
          <p:cNvSpPr/>
          <p:nvPr/>
        </p:nvSpPr>
        <p:spPr>
          <a:xfrm>
            <a:off x="949598" y="3286800"/>
            <a:ext cx="769828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Which Pizza Size contributed the most in Revenue?</a:t>
            </a:r>
            <a:endParaRPr lang="en-US" sz="1350" dirty="0"/>
          </a:p>
        </p:txBody>
      </p:sp>
      <p:pic>
        <p:nvPicPr>
          <p:cNvPr id="12" name="Image 4" descr="preencoded.png">
            <a:extLst>
              <a:ext uri="{FF2B5EF4-FFF2-40B4-BE49-F238E27FC236}">
                <a16:creationId xmlns:a16="http://schemas.microsoft.com/office/drawing/2014/main" id="{95F9C6D2-9537-FE36-DA27-36919BE40A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432" y="3880800"/>
            <a:ext cx="209327" cy="209327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6F935457-F02E-D8E7-B1F4-9331DAA8E929}"/>
              </a:ext>
            </a:extLst>
          </p:cNvPr>
          <p:cNvSpPr/>
          <p:nvPr/>
        </p:nvSpPr>
        <p:spPr>
          <a:xfrm>
            <a:off x="949598" y="3880800"/>
            <a:ext cx="769828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Which Pizza bought the most Revenue?</a:t>
            </a:r>
            <a:endParaRPr lang="en-US" sz="13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E67204-3619-4C51-460F-356224ECF021}"/>
              </a:ext>
            </a:extLst>
          </p:cNvPr>
          <p:cNvSpPr/>
          <p:nvPr/>
        </p:nvSpPr>
        <p:spPr>
          <a:xfrm>
            <a:off x="8053754" y="4853354"/>
            <a:ext cx="1037492" cy="228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7AB8E496-3F91-BADF-943C-8BD525445D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432" y="1504689"/>
            <a:ext cx="209327" cy="209327"/>
          </a:xfrm>
          <a:prstGeom prst="rect">
            <a:avLst/>
          </a:prstGeom>
        </p:spPr>
      </p:pic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4E1431E7-BC3C-4F1C-2B86-EA4E7BC1E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432" y="4474800"/>
            <a:ext cx="209327" cy="209327"/>
          </a:xfrm>
          <a:prstGeom prst="rect">
            <a:avLst/>
          </a:prstGeom>
        </p:spPr>
      </p:pic>
      <p:sp>
        <p:nvSpPr>
          <p:cNvPr id="18" name="Text 6">
            <a:extLst>
              <a:ext uri="{FF2B5EF4-FFF2-40B4-BE49-F238E27FC236}">
                <a16:creationId xmlns:a16="http://schemas.microsoft.com/office/drawing/2014/main" id="{B6E82F35-8D53-DA55-6198-17699988655E}"/>
              </a:ext>
            </a:extLst>
          </p:cNvPr>
          <p:cNvSpPr/>
          <p:nvPr/>
        </p:nvSpPr>
        <p:spPr>
          <a:xfrm>
            <a:off x="949598" y="4474800"/>
            <a:ext cx="769828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Which Pizza performs the worst out of all the pizzas?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774388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2">
            <a:extLst>
              <a:ext uri="{FF2B5EF4-FFF2-40B4-BE49-F238E27FC236}">
                <a16:creationId xmlns:a16="http://schemas.microsoft.com/office/drawing/2014/main" id="{BEA3B12A-6BE2-97D1-CDB3-23FD88740EF9}"/>
              </a:ext>
            </a:extLst>
          </p:cNvPr>
          <p:cNvSpPr/>
          <p:nvPr/>
        </p:nvSpPr>
        <p:spPr>
          <a:xfrm>
            <a:off x="496119" y="4115469"/>
            <a:ext cx="599651" cy="651197"/>
          </a:xfrm>
          <a:prstGeom prst="roundRect">
            <a:avLst>
              <a:gd name="adj" fmla="val 360025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3" name="Shape 2">
            <a:extLst>
              <a:ext uri="{FF2B5EF4-FFF2-40B4-BE49-F238E27FC236}">
                <a16:creationId xmlns:a16="http://schemas.microsoft.com/office/drawing/2014/main" id="{2933EB2E-1ACA-EE36-42A1-D0F074BA8350}"/>
              </a:ext>
            </a:extLst>
          </p:cNvPr>
          <p:cNvSpPr/>
          <p:nvPr/>
        </p:nvSpPr>
        <p:spPr>
          <a:xfrm>
            <a:off x="496800" y="3323111"/>
            <a:ext cx="599651" cy="651197"/>
          </a:xfrm>
          <a:prstGeom prst="roundRect">
            <a:avLst>
              <a:gd name="adj" fmla="val 360025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172AF2A2-4B7D-CBD5-7DE8-76C03D34A517}"/>
              </a:ext>
            </a:extLst>
          </p:cNvPr>
          <p:cNvSpPr/>
          <p:nvPr/>
        </p:nvSpPr>
        <p:spPr>
          <a:xfrm>
            <a:off x="496119" y="2521201"/>
            <a:ext cx="599651" cy="651197"/>
          </a:xfrm>
          <a:prstGeom prst="roundRect">
            <a:avLst>
              <a:gd name="adj" fmla="val 360025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D0103ECE-9882-75B6-D5B1-BE296A284F11}"/>
              </a:ext>
            </a:extLst>
          </p:cNvPr>
          <p:cNvSpPr/>
          <p:nvPr/>
        </p:nvSpPr>
        <p:spPr>
          <a:xfrm>
            <a:off x="496119" y="1728843"/>
            <a:ext cx="599651" cy="651197"/>
          </a:xfrm>
          <a:prstGeom prst="roundRect">
            <a:avLst>
              <a:gd name="adj" fmla="val 360025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96118" y="934344"/>
            <a:ext cx="599651" cy="651197"/>
          </a:xfrm>
          <a:prstGeom prst="roundRect">
            <a:avLst>
              <a:gd name="adj" fmla="val 360025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9503" y="1134801"/>
            <a:ext cx="250031" cy="2500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8952" y="1041909"/>
            <a:ext cx="763458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b="1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Optimize low-performing pizzas by reviewing ingredients, pricing or discontinuing </a:t>
            </a:r>
          </a:p>
          <a:p>
            <a:pPr>
              <a:lnSpc>
                <a:spcPct val="104000"/>
              </a:lnSpc>
            </a:pPr>
            <a:r>
              <a:rPr lang="en-US" sz="1350" b="1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consistently poor performers. </a:t>
            </a:r>
            <a:endParaRPr lang="en-US" sz="1350" b="1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503" y="1907009"/>
            <a:ext cx="250031" cy="250031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9600" y="2726560"/>
            <a:ext cx="250031" cy="250031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9502" y="4316050"/>
            <a:ext cx="250031" cy="250031"/>
          </a:xfrm>
          <a:prstGeom prst="rect">
            <a:avLst/>
          </a:prstGeom>
        </p:spPr>
      </p:pic>
      <p:sp>
        <p:nvSpPr>
          <p:cNvPr id="25" name="Text 0">
            <a:extLst>
              <a:ext uri="{FF2B5EF4-FFF2-40B4-BE49-F238E27FC236}">
                <a16:creationId xmlns:a16="http://schemas.microsoft.com/office/drawing/2014/main" id="{86ED9130-8C84-AE35-594A-9F2B9909FB2C}"/>
              </a:ext>
            </a:extLst>
          </p:cNvPr>
          <p:cNvSpPr/>
          <p:nvPr/>
        </p:nvSpPr>
        <p:spPr>
          <a:xfrm>
            <a:off x="496119" y="421481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Business Recommendations</a:t>
            </a:r>
            <a:endParaRPr lang="en-US" sz="27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5134D1-D86A-C768-D78E-177F4A2ADEFA}"/>
              </a:ext>
            </a:extLst>
          </p:cNvPr>
          <p:cNvSpPr/>
          <p:nvPr/>
        </p:nvSpPr>
        <p:spPr>
          <a:xfrm>
            <a:off x="8053754" y="4633982"/>
            <a:ext cx="1037492" cy="228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580A8DA7-162D-AB5A-F226-A18CAD1060A9}"/>
              </a:ext>
            </a:extLst>
          </p:cNvPr>
          <p:cNvSpPr/>
          <p:nvPr/>
        </p:nvSpPr>
        <p:spPr>
          <a:xfrm>
            <a:off x="1148951" y="1813991"/>
            <a:ext cx="763458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Increase sales during low-revenue months through campaigns or seasonal promotions</a:t>
            </a:r>
          </a:p>
          <a:p>
            <a:pPr>
              <a:lnSpc>
                <a:spcPct val="104000"/>
              </a:lnSpc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to boost Revenue during those months.. </a:t>
            </a:r>
            <a:endParaRPr lang="en-US" sz="1350" dirty="0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5058C61F-FBD8-1CD9-5611-4DCEAAB0D1B2}"/>
              </a:ext>
            </a:extLst>
          </p:cNvPr>
          <p:cNvSpPr/>
          <p:nvPr/>
        </p:nvSpPr>
        <p:spPr>
          <a:xfrm>
            <a:off x="1148952" y="2616625"/>
            <a:ext cx="763458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Boost weekday demands by introducing special offers for days that receive fewer orders</a:t>
            </a:r>
          </a:p>
          <a:p>
            <a:pPr>
              <a:lnSpc>
                <a:spcPct val="104000"/>
              </a:lnSpc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cs typeface="Gelasio SemiBold" pitchFamily="34" charset="-120"/>
              </a:rPr>
              <a:t>than Friday.</a:t>
            </a:r>
            <a:endParaRPr lang="en-US" sz="135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A2718750-5637-DF87-4B44-41FDBE33ECAD}"/>
              </a:ext>
            </a:extLst>
          </p:cNvPr>
          <p:cNvSpPr/>
          <p:nvPr/>
        </p:nvSpPr>
        <p:spPr>
          <a:xfrm>
            <a:off x="1148952" y="3425834"/>
            <a:ext cx="763458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Schedule more staff and prepare inventory for peak hours while optimizing staffing</a:t>
            </a:r>
          </a:p>
          <a:p>
            <a:pPr>
              <a:lnSpc>
                <a:spcPct val="104000"/>
              </a:lnSpc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cs typeface="Gelasio SemiBold" pitchFamily="34" charset="-120"/>
              </a:rPr>
              <a:t>during off-peak hours.</a:t>
            </a:r>
            <a:endParaRPr lang="en-US" sz="1350" dirty="0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DE543EE3-8679-C179-13C8-51BAE00D4C9D}"/>
              </a:ext>
            </a:extLst>
          </p:cNvPr>
          <p:cNvSpPr/>
          <p:nvPr/>
        </p:nvSpPr>
        <p:spPr>
          <a:xfrm>
            <a:off x="1148952" y="4223033"/>
            <a:ext cx="763458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Capitalize on best-sellers by promoting Large pizzas and the Thai Chicken Pizza in </a:t>
            </a:r>
          </a:p>
          <a:p>
            <a:pPr>
              <a:lnSpc>
                <a:spcPct val="104000"/>
              </a:lnSpc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combo deals.</a:t>
            </a:r>
            <a:endParaRPr lang="en-US" sz="135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BE8D58F-0F9D-176D-4232-CA0ECE977BA7}"/>
              </a:ext>
            </a:extLst>
          </p:cNvPr>
          <p:cNvSpPr/>
          <p:nvPr/>
        </p:nvSpPr>
        <p:spPr>
          <a:xfrm>
            <a:off x="8053754" y="4853354"/>
            <a:ext cx="1037492" cy="228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7" name="Image 4" descr="preencoded.png">
            <a:extLst>
              <a:ext uri="{FF2B5EF4-FFF2-40B4-BE49-F238E27FC236}">
                <a16:creationId xmlns:a16="http://schemas.microsoft.com/office/drawing/2014/main" id="{32CC4371-B246-72D3-6CAC-EC611438B4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9501" y="3518851"/>
            <a:ext cx="250031" cy="2500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933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Challenges &amp; Solutions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0584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Each technical hurdle was addressed with a targeted solution, improving both data quality and dashboard usability.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92126"/>
            <a:ext cx="8151763" cy="2472035"/>
          </a:xfrm>
          <a:prstGeom prst="roundRect">
            <a:avLst>
              <a:gd name="adj" fmla="val 86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305720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716932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128144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539356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950568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164955" y="1892126"/>
            <a:ext cx="8860" cy="247203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2714" y="1986707"/>
            <a:ext cx="38353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09095" y="1986707"/>
            <a:ext cx="46494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714" y="2397919"/>
            <a:ext cx="38353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Multiple CSV files to integrate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09095" y="2397919"/>
            <a:ext cx="46494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Created an SQL View (</a:t>
            </a: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PizzaSales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) joining all tables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714" y="2809131"/>
            <a:ext cx="38353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Weekday names sorting incorrectly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09095" y="2809131"/>
            <a:ext cx="46494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Added a </a:t>
            </a: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Custom Day Number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column for proper sort order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714" y="3220343"/>
            <a:ext cx="38353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Filters not syncing across pages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09095" y="3220343"/>
            <a:ext cx="46494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Enabled </a:t>
            </a: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Sync Slicers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in Power BI for cross-page consistency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2714" y="3631555"/>
            <a:ext cx="38353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Static tooltips limiting context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09095" y="3631555"/>
            <a:ext cx="46494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Designed dedicated </a:t>
            </a: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Tooltip Pages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dynamic detail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714" y="4042767"/>
            <a:ext cx="38353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 easy way to reset filters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09095" y="4042767"/>
            <a:ext cx="46494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Added a </a:t>
            </a: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Reset Button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linked to a Bookmark</a:t>
            </a:r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F0471B-46E8-0ECA-27F9-686BE97C9A67}"/>
              </a:ext>
            </a:extLst>
          </p:cNvPr>
          <p:cNvSpPr/>
          <p:nvPr/>
        </p:nvSpPr>
        <p:spPr>
          <a:xfrm>
            <a:off x="8053754" y="4853354"/>
            <a:ext cx="1037492" cy="228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2971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Skills Demonstrated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19" y="1128564"/>
            <a:ext cx="8151763" cy="3461891"/>
          </a:xfrm>
          <a:prstGeom prst="roundRect">
            <a:avLst>
              <a:gd name="adj" fmla="val 51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442591"/>
            <a:ext cx="8151763" cy="74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1930598"/>
            <a:ext cx="8151763" cy="74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594967"/>
            <a:ext cx="8151763" cy="74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259336"/>
            <a:ext cx="8151763" cy="74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923705"/>
            <a:ext cx="8151763" cy="74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432200" y="1128564"/>
            <a:ext cx="7476" cy="3461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34633" y="1128564"/>
            <a:ext cx="7476" cy="3461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0613" y="1198587"/>
            <a:ext cx="3146822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Job Responsibilities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54164" y="1198587"/>
            <a:ext cx="241570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Skills Required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56597" y="1198587"/>
            <a:ext cx="322413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Skills I Have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0613" y="1510233"/>
            <a:ext cx="2689622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Retrieve, clean, and organize datasets for analysis, ensuring data integrity and accuracy. - NIQ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54164" y="1510233"/>
            <a:ext cx="195850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Excel, Data Cleaning, Data Transformation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56597" y="1510233"/>
            <a:ext cx="276693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Cleaned and transformed raw pizza sales data in Excel before importing into SQL Server.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0613" y="1998241"/>
            <a:ext cx="2689622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 and execute SQL queries for data retrieval, manipulation, and analysis. – Tech Mahindra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54164" y="1998241"/>
            <a:ext cx="195850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SQL, JOINs, Aggregate Functions, Views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56597" y="1998241"/>
            <a:ext cx="2766938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Developed SQL queries using joins, aggregate functions, and filtering to retrieve, analyze, and prepare pizza sales data for reporting.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0613" y="2662610"/>
            <a:ext cx="2689622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 and Maintain SQL scripts and procedures.</a:t>
            </a:r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- GVM technologies LLP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54164" y="2662610"/>
            <a:ext cx="241570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SQL Procedures, UDF, Views.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56597" y="2662610"/>
            <a:ext cx="2766938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Developed SQL Views, Stored Procedures and User Defined Functions for reusable data retrieval.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0613" y="3326978"/>
            <a:ext cx="2689622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Analyze complex data sets to identify trends, patterns, and correlations. – E4 </a:t>
            </a:r>
            <a:r>
              <a:rPr lang="en-US" sz="90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Softwares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54164" y="3326978"/>
            <a:ext cx="195850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SQL, Data Analysis, Analytical Thinking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56597" y="3326978"/>
            <a:ext cx="2766938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Analyzed pizza sales data to identify revenue trends, customer ordering patterns, peak sales periods, and top- and bottom-performing products.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0613" y="3991347"/>
            <a:ext cx="2689622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 and maintain interactive dashboards and reports using Microsoft Power BI </a:t>
            </a:r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– NITI Technologies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54164" y="3991347"/>
            <a:ext cx="241570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Power BI, Dashboard Development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56597" y="3991347"/>
            <a:ext cx="276693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Designed an interactive four-page Power BI dashboard with KPIs and navigation.</a:t>
            </a:r>
            <a:endParaRPr lang="en-US" sz="9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98A1DD8-349F-D3DC-C749-A50C993CA65E}"/>
              </a:ext>
            </a:extLst>
          </p:cNvPr>
          <p:cNvSpPr/>
          <p:nvPr/>
        </p:nvSpPr>
        <p:spPr>
          <a:xfrm>
            <a:off x="8053754" y="4853354"/>
            <a:ext cx="1037492" cy="228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8201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0852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Outcome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494806"/>
            <a:ext cx="318939" cy="318939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87" y="2547938"/>
            <a:ext cx="212601" cy="212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6816" y="2543473"/>
            <a:ext cx="35265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Built an end-to-end data analysis solution.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660553" y="2494806"/>
            <a:ext cx="318939" cy="318939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3722" y="2547938"/>
            <a:ext cx="212601" cy="2126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1250" y="2543473"/>
            <a:ext cx="352663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Created an interactive Power BI dashboard.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96119" y="3269903"/>
            <a:ext cx="318939" cy="318939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287" y="3323034"/>
            <a:ext cx="212601" cy="2126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56816" y="3318570"/>
            <a:ext cx="35265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Identified key sales and customer trends.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4660553" y="3269903"/>
            <a:ext cx="318939" cy="318939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3722" y="3323034"/>
            <a:ext cx="212601" cy="21260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21250" y="3318570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Generated actionable business insights.</a:t>
            </a:r>
            <a:endParaRPr lang="en-US" sz="13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4B0C7B-C804-ECB3-67AD-A928A72767C0}"/>
              </a:ext>
            </a:extLst>
          </p:cNvPr>
          <p:cNvSpPr/>
          <p:nvPr/>
        </p:nvSpPr>
        <p:spPr>
          <a:xfrm>
            <a:off x="8053754" y="4853354"/>
            <a:ext cx="1037492" cy="228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727</Words>
  <Application>Microsoft Office PowerPoint</Application>
  <PresentationFormat>On-screen Show (16:9)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Gelasio SemiBold</vt:lpstr>
      <vt:lpstr>Gelasio</vt:lpstr>
      <vt:lpstr>Gelasio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Jill Prajapati</cp:lastModifiedBy>
  <cp:revision>13</cp:revision>
  <dcterms:created xsi:type="dcterms:W3CDTF">2026-07-13T12:14:12Z</dcterms:created>
  <dcterms:modified xsi:type="dcterms:W3CDTF">2026-07-23T11:39:59Z</dcterms:modified>
</cp:coreProperties>
</file>